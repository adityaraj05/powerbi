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Lst>
  <p:notesMasterIdLst>
    <p:notesMasterId r:id="rId18"/>
  </p:notesMasterIdLst>
  <p:sldIdLst>
    <p:sldId id="292" r:id="rId5"/>
    <p:sldId id="257" r:id="rId6"/>
    <p:sldId id="353" r:id="rId7"/>
    <p:sldId id="354" r:id="rId8"/>
    <p:sldId id="343" r:id="rId9"/>
    <p:sldId id="344" r:id="rId10"/>
    <p:sldId id="345" r:id="rId11"/>
    <p:sldId id="346" r:id="rId12"/>
    <p:sldId id="347" r:id="rId13"/>
    <p:sldId id="348" r:id="rId14"/>
    <p:sldId id="349" r:id="rId15"/>
    <p:sldId id="350" r:id="rId16"/>
    <p:sldId id="342"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540" userDrawn="1">
          <p15:clr>
            <a:srgbClr val="A4A3A4"/>
          </p15:clr>
        </p15:guide>
        <p15:guide id="2"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1910"/>
    <a:srgbClr val="223366"/>
    <a:srgbClr val="0000FF"/>
    <a:srgbClr val="0000A8"/>
    <a:srgbClr val="FFD5D5"/>
    <a:srgbClr val="DD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27" d="100"/>
          <a:sy n="127" d="100"/>
        </p:scale>
        <p:origin x="178" y="91"/>
      </p:cViewPr>
      <p:guideLst>
        <p:guide orient="horz" pos="540"/>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a:latin typeface="Calibri" panose="020F0502020204030204"/>
              <a:cs typeface="Calibri" panose="020F0502020204030204"/>
            </a:endParaRPr>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panose="02020603050405020304"/>
              </a:rPr>
              <a:t>1</a:t>
            </a:fld>
            <a:endParaRPr lang="en-US" sz="1400" b="0" strike="noStrike" spc="-1">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r>
              <a:rPr lang="en-US"/>
              <a:t>Summary:</a:t>
            </a:r>
          </a:p>
          <a:p>
            <a:r>
              <a:rPr lang="en-US"/>
              <a:t>The project seeks to support digital artists by establishing a decentralized platform utilizing blockchain and Non-Fungible Tokens (NFTs) to validate and monetize their work. Artists can upload images, mint NFTs to claim ownership, and profit securely and transparently. This initiative aims to democratize the digital art market, enabling wider participation and empowering artists in the digital era.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r>
              <a:rPr lang="en-US"/>
              <a:t>Summary:</a:t>
            </a:r>
          </a:p>
          <a:p>
            <a:r>
              <a:rPr lang="en-US"/>
              <a:t>Creators, including artists and musicians, utilize the decentralized application (dApp) to convert their digital creations into Non-Fungible Tokens (NFTs). They upload their digital assets, provide details and descriptions, and initiate the minting process by connecting their crypto wallet to pay associated fees. This process grants them ownership and control over their minted NFTs, enabling them to sell, trade, or retain them as desired.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r>
              <a:rPr lang="en-US"/>
              <a:t>Summary:</a:t>
            </a:r>
          </a:p>
          <a:p>
            <a:r>
              <a:rPr lang="en-US"/>
              <a:t>Before the emergence of Non-Fungible Tokens (NFTs), owning digital art presented challenges due to the ease of file copying. Our marketplace addresses this issue by empowering artists through verifiable ownership facilitated by NFTs. This ensures that artists can confidently prove ownership of their digital creations, democratizing digital art ownership and providing a secure platform for artists to showcase and monetize their work.</a:t>
            </a:r>
          </a:p>
          <a:p>
            <a:r>
              <a:rPr lang="en-US"/>
              <a:t>Alongside offering a dynamic marketplace for digital art, our platform prioritizes community engagement by integrating a range of features designed to foster interaction and collaboration among users.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a:lnSpc>
                <a:spcPct val="100000"/>
              </a:lnSpc>
              <a:tabLst>
                <a:tab pos="0" algn="l"/>
              </a:tabLst>
            </a:pPr>
            <a:endParaRPr lang="en-US" sz="2000" b="0" strike="noStrike" spc="-1">
              <a:latin typeface="Arial" panose="020B0604020202020204"/>
            </a:endParaRP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panose="02020603050405020304"/>
              </a:rPr>
              <a:t>13</a:t>
            </a:fld>
            <a:endParaRPr lang="en-US" sz="1200" b="0" strike="noStrike" spc="-1">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panose="020F0502020204030204"/>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5" name="Google Shape;110;p4" descr="A close up of a sign&#10;&#10;Description automatically generated"/>
          <p:cNvPicPr preferRelativeResize="0"/>
          <p:nvPr userDrawn="1"/>
        </p:nvPicPr>
        <p:blipFill rotWithShape="1">
          <a:blip r:embed="rId14"/>
          <a:srcRect/>
          <a:stretch>
            <a:fillRect/>
          </a:stretch>
        </p:blipFill>
        <p:spPr>
          <a:xfrm>
            <a:off x="5890576" y="50164"/>
            <a:ext cx="1226897" cy="410144"/>
          </a:xfrm>
          <a:prstGeom prst="rect">
            <a:avLst/>
          </a:prstGeom>
          <a:noFill/>
          <a:ln>
            <a:noFill/>
          </a:ln>
        </p:spPr>
      </p:pic>
      <p:pic>
        <p:nvPicPr>
          <p:cNvPr id="6" name="Picture 5"/>
          <p:cNvPicPr>
            <a:picLocks noChangeAspect="1"/>
          </p:cNvPicPr>
          <p:nvPr userDrawn="1"/>
        </p:nvPicPr>
        <p:blipFill>
          <a:blip r:embed="rId15"/>
          <a:stretch>
            <a:fillRect/>
          </a:stretch>
        </p:blipFill>
        <p:spPr>
          <a:xfrm>
            <a:off x="8588173" y="44451"/>
            <a:ext cx="430886" cy="421570"/>
          </a:xfrm>
          <a:prstGeom prst="rect">
            <a:avLst/>
          </a:prstGeom>
        </p:spPr>
      </p:pic>
      <p:pic>
        <p:nvPicPr>
          <p:cNvPr id="7" name="Picture 6"/>
          <p:cNvPicPr>
            <a:picLocks noChangeAspect="1"/>
          </p:cNvPicPr>
          <p:nvPr userDrawn="1"/>
        </p:nvPicPr>
        <p:blipFill>
          <a:blip r:embed="rId16"/>
          <a:stretch>
            <a:fillRect/>
          </a:stretch>
        </p:blipFill>
        <p:spPr>
          <a:xfrm>
            <a:off x="7448295" y="54435"/>
            <a:ext cx="606402" cy="401602"/>
          </a:xfrm>
          <a:prstGeom prst="rect">
            <a:avLst/>
          </a:prstGeom>
        </p:spPr>
      </p:pic>
      <p:cxnSp>
        <p:nvCxnSpPr>
          <p:cNvPr id="11" name="Straight Connector 10"/>
          <p:cNvCxnSpPr/>
          <p:nvPr userDrawn="1"/>
        </p:nvCxnSpPr>
        <p:spPr>
          <a:xfrm>
            <a:off x="727299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userDrawn="1"/>
        </p:nvCxnSpPr>
        <p:spPr>
          <a:xfrm>
            <a:off x="8328077"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l="5562" r="5562"/>
          <a:stretch>
            <a:fillRect/>
          </a:stretch>
        </p:blipFill>
        <p:spPr>
          <a:xfrm>
            <a:off x="0" y="0"/>
            <a:ext cx="9142574" cy="5143500"/>
          </a:xfrm>
          <a:prstGeom prst="rect">
            <a:avLst/>
          </a:prstGeom>
        </p:spPr>
      </p:pic>
      <p:sp>
        <p:nvSpPr>
          <p:cNvPr id="10" name="TextShape 1"/>
          <p:cNvSpPr txBox="1"/>
          <p:nvPr/>
        </p:nvSpPr>
        <p:spPr>
          <a:xfrm>
            <a:off x="1207791" y="3021098"/>
            <a:ext cx="2087385" cy="425509"/>
          </a:xfrm>
          <a:prstGeom prst="rect">
            <a:avLst/>
          </a:prstGeom>
          <a:noFill/>
          <a:ln w="0">
            <a:noFill/>
          </a:ln>
        </p:spPr>
        <p:txBody>
          <a:bodyPr lIns="68580" tIns="34290" rIns="68580" bIns="34290" anchor="b">
            <a:noAutofit/>
          </a:bodyPr>
          <a:lstStyle/>
          <a:p>
            <a:pPr algn="ctr">
              <a:lnSpc>
                <a:spcPct val="90000"/>
              </a:lnSpc>
            </a:pPr>
            <a:r>
              <a:rPr lang="en-US" sz="1900" spc="-1" dirty="0">
                <a:solidFill>
                  <a:schemeClr val="bg1"/>
                </a:solidFill>
                <a:latin typeface="Calibri" panose="020F0502020204030204"/>
              </a:rPr>
              <a:t>CU_CP_Team_4252</a:t>
            </a:r>
          </a:p>
        </p:txBody>
      </p:sp>
      <p:sp>
        <p:nvSpPr>
          <p:cNvPr id="16" name="Rectangle 15"/>
          <p:cNvSpPr/>
          <p:nvPr/>
        </p:nvSpPr>
        <p:spPr>
          <a:xfrm>
            <a:off x="743414" y="1640947"/>
            <a:ext cx="2988527" cy="871317"/>
          </a:xfrm>
          <a:prstGeom prst="rect">
            <a:avLst/>
          </a:prstGeom>
          <a:solidFill>
            <a:schemeClr val="bg1"/>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oogle Shape;110;p4" descr="A close up of a sign&#10;&#10;Description automatically generated"/>
          <p:cNvPicPr preferRelativeResize="0"/>
          <p:nvPr/>
        </p:nvPicPr>
        <p:blipFill rotWithShape="1">
          <a:blip r:embed="rId4"/>
          <a:srcRect/>
          <a:stretch>
            <a:fillRect/>
          </a:stretch>
        </p:blipFill>
        <p:spPr>
          <a:xfrm>
            <a:off x="815783" y="1971178"/>
            <a:ext cx="1050529" cy="294230"/>
          </a:xfrm>
          <a:prstGeom prst="rect">
            <a:avLst/>
          </a:prstGeom>
          <a:noFill/>
          <a:ln>
            <a:noFill/>
          </a:ln>
        </p:spPr>
      </p:pic>
      <p:pic>
        <p:nvPicPr>
          <p:cNvPr id="7" name="Picture 6"/>
          <p:cNvPicPr>
            <a:picLocks noChangeAspect="1"/>
          </p:cNvPicPr>
          <p:nvPr/>
        </p:nvPicPr>
        <p:blipFill>
          <a:blip r:embed="rId5"/>
          <a:stretch>
            <a:fillRect/>
          </a:stretch>
        </p:blipFill>
        <p:spPr>
          <a:xfrm>
            <a:off x="3052197" y="1843398"/>
            <a:ext cx="485958" cy="475451"/>
          </a:xfrm>
          <a:prstGeom prst="rect">
            <a:avLst/>
          </a:prstGeom>
        </p:spPr>
      </p:pic>
      <p:pic>
        <p:nvPicPr>
          <p:cNvPr id="9" name="Picture 8"/>
          <p:cNvPicPr>
            <a:picLocks noChangeAspect="1"/>
          </p:cNvPicPr>
          <p:nvPr/>
        </p:nvPicPr>
        <p:blipFill>
          <a:blip r:embed="rId6"/>
          <a:stretch>
            <a:fillRect/>
          </a:stretch>
        </p:blipFill>
        <p:spPr>
          <a:xfrm>
            <a:off x="2115014" y="1919854"/>
            <a:ext cx="599270" cy="396879"/>
          </a:xfrm>
          <a:prstGeom prst="rect">
            <a:avLst/>
          </a:prstGeom>
        </p:spPr>
      </p:pic>
      <p:cxnSp>
        <p:nvCxnSpPr>
          <p:cNvPr id="12" name="Straight Connector 11"/>
          <p:cNvCxnSpPr/>
          <p:nvPr/>
        </p:nvCxnSpPr>
        <p:spPr>
          <a:xfrm>
            <a:off x="1984914" y="1859664"/>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2891880" y="1865133"/>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2" name="TextBox 1"/>
          <p:cNvSpPr txBox="1"/>
          <p:nvPr/>
        </p:nvSpPr>
        <p:spPr>
          <a:xfrm>
            <a:off x="5300546" y="3233853"/>
            <a:ext cx="3642731" cy="1631216"/>
          </a:xfrm>
          <a:prstGeom prst="rect">
            <a:avLst/>
          </a:prstGeom>
          <a:noFill/>
        </p:spPr>
        <p:txBody>
          <a:bodyPr wrap="square" rtlCol="0">
            <a:spAutoFit/>
          </a:bodyPr>
          <a:lstStyle/>
          <a:p>
            <a:pPr algn="just"/>
            <a:r>
              <a:rPr lang="en-US" altLang="en-IN" sz="1600" dirty="0">
                <a:solidFill>
                  <a:schemeClr val="bg1"/>
                </a:solidFill>
              </a:rPr>
              <a:t>Team Leader Name</a:t>
            </a:r>
            <a:r>
              <a:rPr lang="en-IN" sz="1600" dirty="0">
                <a:solidFill>
                  <a:schemeClr val="bg1"/>
                </a:solidFill>
              </a:rPr>
              <a:t>- </a:t>
            </a:r>
            <a:r>
              <a:rPr lang="en-US" sz="1500" dirty="0">
                <a:solidFill>
                  <a:schemeClr val="bg1"/>
                </a:solidFill>
              </a:rPr>
              <a:t>Divyanshu Mishra</a:t>
            </a:r>
            <a:endParaRPr lang="en-US" altLang="en-IN" sz="1500" dirty="0">
              <a:solidFill>
                <a:schemeClr val="bg1"/>
              </a:solidFill>
            </a:endParaRPr>
          </a:p>
          <a:p>
            <a:pPr algn="just"/>
            <a:r>
              <a:rPr lang="en-US" altLang="en-IN" dirty="0">
                <a:solidFill>
                  <a:schemeClr val="bg1"/>
                </a:solidFill>
              </a:rPr>
              <a:t>Member 1-Aditya Raj</a:t>
            </a:r>
          </a:p>
          <a:p>
            <a:pPr algn="just"/>
            <a:r>
              <a:rPr lang="en-US" altLang="en-IN" dirty="0">
                <a:solidFill>
                  <a:schemeClr val="bg1"/>
                </a:solidFill>
              </a:rPr>
              <a:t>Member 2-Dixit</a:t>
            </a:r>
          </a:p>
          <a:p>
            <a:pPr algn="just"/>
            <a:r>
              <a:rPr lang="en-US" altLang="en-IN" dirty="0">
                <a:solidFill>
                  <a:schemeClr val="bg1"/>
                </a:solidFill>
              </a:rPr>
              <a:t>Member 3-Ankit </a:t>
            </a:r>
            <a:r>
              <a:rPr lang="en-US" altLang="en-IN" dirty="0" err="1">
                <a:solidFill>
                  <a:schemeClr val="bg1"/>
                </a:solidFill>
              </a:rPr>
              <a:t>Porwal</a:t>
            </a:r>
            <a:endParaRPr lang="en-US" altLang="en-IN" dirty="0">
              <a:solidFill>
                <a:schemeClr val="bg1"/>
              </a:solidFill>
            </a:endParaRPr>
          </a:p>
          <a:p>
            <a:pPr algn="just"/>
            <a:r>
              <a:rPr lang="en-US" altLang="en-IN" dirty="0">
                <a:solidFill>
                  <a:schemeClr val="bg1"/>
                </a:solidFill>
              </a:rPr>
              <a:t>Member 4-Shivam Patel</a:t>
            </a:r>
          </a:p>
          <a:p>
            <a:pPr algn="just"/>
            <a:endParaRPr lang="en-IN" dirty="0">
              <a:solidFill>
                <a:schemeClr val="bg1"/>
              </a:solidFill>
            </a:endParaRPr>
          </a:p>
          <a:p>
            <a:pPr algn="just"/>
            <a:endParaRPr lang="en-IN" dirty="0"/>
          </a:p>
        </p:txBody>
      </p:sp>
      <p:sp>
        <p:nvSpPr>
          <p:cNvPr id="5" name="TextBox 4">
            <a:extLst>
              <a:ext uri="{FF2B5EF4-FFF2-40B4-BE49-F238E27FC236}">
                <a16:creationId xmlns:a16="http://schemas.microsoft.com/office/drawing/2014/main" id="{730CB994-145C-F890-40A2-347DD8491D56}"/>
              </a:ext>
            </a:extLst>
          </p:cNvPr>
          <p:cNvSpPr txBox="1"/>
          <p:nvPr/>
        </p:nvSpPr>
        <p:spPr>
          <a:xfrm>
            <a:off x="690617" y="2656322"/>
            <a:ext cx="4146078" cy="400110"/>
          </a:xfrm>
          <a:prstGeom prst="rect">
            <a:avLst/>
          </a:prstGeom>
          <a:noFill/>
        </p:spPr>
        <p:txBody>
          <a:bodyPr wrap="square">
            <a:spAutoFit/>
          </a:bodyPr>
          <a:lstStyle/>
          <a:p>
            <a:r>
              <a:rPr lang="en-IN" sz="2000" dirty="0">
                <a:solidFill>
                  <a:schemeClr val="bg1"/>
                </a:solidFill>
              </a:rPr>
              <a:t>SuperStore Sales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64822" y="867160"/>
            <a:ext cx="3009530" cy="2142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GB" sz="1600" b="1">
                <a:solidFill>
                  <a:srgbClr val="213163"/>
                </a:solidFill>
              </a:rPr>
              <a:t>Project Objectives</a:t>
            </a:r>
            <a:endParaRPr sz="1600"/>
          </a:p>
        </p:txBody>
      </p:sp>
      <p:pic>
        <p:nvPicPr>
          <p:cNvPr id="4" name="Picture 3"/>
          <p:cNvPicPr>
            <a:picLocks noChangeAspect="1"/>
          </p:cNvPicPr>
          <p:nvPr/>
        </p:nvPicPr>
        <p:blipFill>
          <a:blip r:embed="rId3"/>
          <a:stretch>
            <a:fillRect/>
          </a:stretch>
        </p:blipFill>
        <p:spPr>
          <a:xfrm>
            <a:off x="5235375" y="1228377"/>
            <a:ext cx="3194940" cy="3194940"/>
          </a:xfrm>
          <a:prstGeom prst="rect">
            <a:avLst/>
          </a:prstGeom>
        </p:spPr>
      </p:pic>
      <p:sp>
        <p:nvSpPr>
          <p:cNvPr id="6" name="Google Shape;62;g5fab984687_2_0"/>
          <p:cNvSpPr txBox="1"/>
          <p:nvPr/>
        </p:nvSpPr>
        <p:spPr>
          <a:xfrm>
            <a:off x="364822" y="1365005"/>
            <a:ext cx="3845164" cy="27719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182880" indent="-182880" algn="just">
              <a:buFont typeface="Arial" panose="020B0604020202020204" pitchFamily="34" charset="0"/>
              <a:buChar char="•"/>
            </a:pPr>
            <a:r>
              <a:rPr lang="en-US" dirty="0"/>
              <a:t>Problem Statement</a:t>
            </a:r>
          </a:p>
          <a:p>
            <a:pPr marL="182880" indent="-182880" algn="just">
              <a:buFont typeface="Arial" panose="020B0604020202020204" pitchFamily="34" charset="0"/>
              <a:buChar char="•"/>
            </a:pPr>
            <a:r>
              <a:rPr lang="en-US" dirty="0"/>
              <a:t>Project Overview – Introduction</a:t>
            </a:r>
          </a:p>
          <a:p>
            <a:pPr marL="182880" indent="-182880" algn="just">
              <a:buFont typeface="Arial" panose="020B0604020202020204" pitchFamily="34" charset="0"/>
              <a:buChar char="•"/>
            </a:pPr>
            <a:r>
              <a:rPr lang="en-US" dirty="0"/>
              <a:t>End Users</a:t>
            </a:r>
          </a:p>
          <a:p>
            <a:pPr marL="182880" indent="-182880" algn="just">
              <a:buFont typeface="Arial" panose="020B0604020202020204" pitchFamily="34" charset="0"/>
              <a:buChar char="•"/>
            </a:pPr>
            <a:r>
              <a:rPr lang="en-US" dirty="0"/>
              <a:t>Wow Factor in Project</a:t>
            </a:r>
          </a:p>
          <a:p>
            <a:pPr marL="182880" indent="-182880" algn="just">
              <a:buFont typeface="Arial" panose="020B0604020202020204" pitchFamily="34" charset="0"/>
              <a:buChar char="•"/>
            </a:pPr>
            <a:r>
              <a:rPr lang="en-US" dirty="0"/>
              <a:t>Modelling/Block Diagram/Flow of Project</a:t>
            </a:r>
          </a:p>
          <a:p>
            <a:pPr marL="182880" indent="-182880" algn="just">
              <a:buFont typeface="Arial" panose="020B0604020202020204" pitchFamily="34" charset="0"/>
              <a:buChar char="•"/>
            </a:pPr>
            <a:r>
              <a:rPr lang="en-US" dirty="0"/>
              <a:t>Result/outcomes</a:t>
            </a:r>
          </a:p>
          <a:p>
            <a:pPr marL="182880" indent="-182880" algn="just">
              <a:buFont typeface="Arial" panose="020B0604020202020204" pitchFamily="34" charset="0"/>
              <a:buChar char="•"/>
            </a:pPr>
            <a:r>
              <a:rPr lang="en-US" dirty="0"/>
              <a:t>Conclusion</a:t>
            </a:r>
          </a:p>
          <a:p>
            <a:pPr marL="182880" indent="-182880" algn="just">
              <a:buFont typeface="Arial" panose="020B0604020202020204" pitchFamily="34" charset="0"/>
              <a:buChar char="•"/>
            </a:pPr>
            <a:r>
              <a:rPr lang="en-US" dirty="0"/>
              <a:t>Future Perspective</a:t>
            </a:r>
          </a:p>
          <a:p>
            <a:pPr marL="182880" indent="-182880" algn="just">
              <a:buFont typeface="Arial" panose="020B0604020202020204" pitchFamily="34" charset="0"/>
              <a:buChar char="•"/>
            </a:pPr>
            <a:endParaRPr lang="en-US" dirty="0"/>
          </a:p>
          <a:p>
            <a:pPr marL="182880" indent="-182880" algn="just">
              <a:buFont typeface="Arial" panose="020B0604020202020204" pitchFamily="34" charset="0"/>
              <a:buChar char="•"/>
            </a:pPr>
            <a:endParaRPr lang="en-US" dirty="0"/>
          </a:p>
          <a:p>
            <a:pPr marL="182880" indent="-182880" algn="just">
              <a:buFont typeface="Arial" panose="020B0604020202020204" pitchFamily="34" charset="0"/>
              <a:buChar char="•"/>
            </a:pPr>
            <a:endParaRPr lang="en-US" dirty="0"/>
          </a:p>
          <a:p>
            <a:pPr marL="182880" indent="-182880" algn="just">
              <a:buFont typeface="Arial" panose="020B0604020202020204" pitchFamily="34" charset="0"/>
              <a:buChar char="•"/>
            </a:pPr>
            <a:endParaRPr lang="en-US" dirty="0"/>
          </a:p>
          <a:p>
            <a:pPr marL="182880" indent="-182880" algn="just">
              <a:buFont typeface="Arial" panose="020B0604020202020204" pitchFamily="34" charset="0"/>
              <a:buChar cha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nvSpPr>
        <p:spPr>
          <a:xfrm>
            <a:off x="311700" y="445025"/>
            <a:ext cx="8520600" cy="5727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altLang="en-IN" sz="2400" dirty="0">
                <a:solidFill>
                  <a:srgbClr val="002060"/>
                </a:solidFill>
              </a:rPr>
              <a:t>Problem Statement :- </a:t>
            </a:r>
          </a:p>
        </p:txBody>
      </p:sp>
      <p:sp>
        <p:nvSpPr>
          <p:cNvPr id="3" name="Text Box 2"/>
          <p:cNvSpPr txBox="1"/>
          <p:nvPr/>
        </p:nvSpPr>
        <p:spPr>
          <a:xfrm>
            <a:off x="447675" y="1073150"/>
            <a:ext cx="8444230" cy="3476625"/>
          </a:xfrm>
          <a:prstGeom prst="rect">
            <a:avLst/>
          </a:prstGeom>
          <a:noFill/>
        </p:spPr>
        <p:txBody>
          <a:bodyPr wrap="square" rtlCol="0">
            <a:spAutoFit/>
          </a:bodyPr>
          <a:lstStyle/>
          <a:p>
            <a:pPr algn="just"/>
            <a:endParaRPr lang="en-US" sz="2000"/>
          </a:p>
          <a:p>
            <a:pPr algn="just"/>
            <a:r>
              <a:rPr lang="en-US" sz="2000"/>
              <a:t>The project aims to address the challenges faced by digital artists by creating a decentralized platform that leverages blockchain technology to validate and monetize their work through Non-Fungible Tokens (NFTs). </a:t>
            </a:r>
          </a:p>
          <a:p>
            <a:pPr algn="just"/>
            <a:endParaRPr lang="en-US" sz="2000"/>
          </a:p>
          <a:p>
            <a:pPr algn="just"/>
            <a:r>
              <a:rPr lang="en-US" sz="2000"/>
              <a:t>By allowing artists to upload images from their local systems and claim ownership through minting NFTs, the platform seeks to provide a secure and transparent way for artists to showcase and profit from their creations. This approach aims to democratize access to the digital art market, fostering broader participation and creativity while empowering artists to thrive in the digital 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nvSpPr>
        <p:spPr>
          <a:xfrm>
            <a:off x="311700" y="445025"/>
            <a:ext cx="8520600" cy="5727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28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altLang="en-IN" sz="2400" dirty="0">
                <a:solidFill>
                  <a:srgbClr val="002060"/>
                </a:solidFill>
              </a:rPr>
              <a:t>Blockchain :- </a:t>
            </a:r>
          </a:p>
        </p:txBody>
      </p:sp>
      <p:sp>
        <p:nvSpPr>
          <p:cNvPr id="2" name="Text Box 1"/>
          <p:cNvSpPr txBox="1"/>
          <p:nvPr/>
        </p:nvSpPr>
        <p:spPr>
          <a:xfrm>
            <a:off x="447675" y="1120775"/>
            <a:ext cx="5230495" cy="3784600"/>
          </a:xfrm>
          <a:prstGeom prst="rect">
            <a:avLst/>
          </a:prstGeom>
          <a:noFill/>
        </p:spPr>
        <p:txBody>
          <a:bodyPr wrap="square" rtlCol="0">
            <a:spAutoFit/>
          </a:bodyPr>
          <a:lstStyle/>
          <a:p>
            <a:pPr marL="285750" indent="-285750" algn="just">
              <a:buFont typeface="Wingdings" panose="05000000000000000000" charset="0"/>
              <a:buChar char="Ø"/>
            </a:pPr>
            <a:r>
              <a:rPr lang="en-US" sz="2000" dirty="0">
                <a:solidFill>
                  <a:schemeClr val="tx1"/>
                </a:solidFill>
                <a:latin typeface="+mj-lt"/>
                <a:cs typeface="+mj-lt"/>
                <a:sym typeface="Arial" panose="020B0604020202020204"/>
              </a:rPr>
              <a:t>Blockchain is a decentralized and distributed digital ledger technology that records transactions across a network of computers.</a:t>
            </a:r>
          </a:p>
          <a:p>
            <a:pPr marL="0" indent="0" algn="just">
              <a:buFont typeface="Wingdings" panose="05000000000000000000" charset="0"/>
              <a:buNone/>
            </a:pPr>
            <a:endParaRPr sz="2000" b="0" i="0" dirty="0">
              <a:solidFill>
                <a:schemeClr val="tx1"/>
              </a:solidFill>
              <a:latin typeface="+mj-lt"/>
              <a:ea typeface="Arial" panose="020B0604020202020204"/>
              <a:cs typeface="+mj-lt"/>
              <a:sym typeface="Arial" panose="020B0604020202020204"/>
            </a:endParaRPr>
          </a:p>
          <a:p>
            <a:pPr marL="285750" indent="-285750" algn="just">
              <a:buFont typeface="Wingdings" panose="05000000000000000000" charset="0"/>
              <a:buChar char="Ø"/>
            </a:pPr>
            <a:r>
              <a:rPr lang="en-US" sz="2000" dirty="0">
                <a:solidFill>
                  <a:schemeClr val="tx1"/>
                </a:solidFill>
                <a:latin typeface="+mj-lt"/>
                <a:cs typeface="+mj-lt"/>
                <a:sym typeface="Arial" panose="020B0604020202020204"/>
              </a:rPr>
              <a:t>It gained significant attention with the rise of cryptocurrencies, most notably Bitcoin, which was the first application of blockchain technology. However, its potential applications extend far beyond digital currencies.</a:t>
            </a:r>
            <a:endParaRPr lang="en-US" sz="2000" dirty="0">
              <a:solidFill>
                <a:schemeClr val="tx1"/>
              </a:solidFill>
              <a:latin typeface="+mj-lt"/>
              <a:ea typeface="Arial" panose="020B0604020202020204"/>
              <a:cs typeface="+mj-lt"/>
              <a:sym typeface="Arial" panose="020B0604020202020204"/>
            </a:endParaRPr>
          </a:p>
          <a:p>
            <a:pPr marL="0" indent="0" algn="just">
              <a:buFont typeface="Wingdings" panose="05000000000000000000" charset="0"/>
              <a:buNone/>
            </a:pPr>
            <a:endParaRPr lang="en-US" sz="2000">
              <a:latin typeface="+mj-lt"/>
              <a:cs typeface="+mj-lt"/>
            </a:endParaRPr>
          </a:p>
        </p:txBody>
      </p:sp>
      <p:pic>
        <p:nvPicPr>
          <p:cNvPr id="3" name="Picture 2" descr="Picture1"/>
          <p:cNvPicPr>
            <a:picLocks noChangeAspect="1"/>
          </p:cNvPicPr>
          <p:nvPr/>
        </p:nvPicPr>
        <p:blipFill>
          <a:blip r:embed="rId2"/>
          <a:stretch>
            <a:fillRect/>
          </a:stretch>
        </p:blipFill>
        <p:spPr>
          <a:xfrm>
            <a:off x="6165215" y="1017905"/>
            <a:ext cx="2667000" cy="2076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ltLang="en-IN" sz="2400" dirty="0">
                <a:solidFill>
                  <a:srgbClr val="002060"/>
                </a:solidFill>
              </a:rPr>
              <a:t>Project Overview - Introduction</a:t>
            </a:r>
          </a:p>
        </p:txBody>
      </p:sp>
      <p:sp>
        <p:nvSpPr>
          <p:cNvPr id="8" name="TextBox 7"/>
          <p:cNvSpPr txBox="1"/>
          <p:nvPr/>
        </p:nvSpPr>
        <p:spPr>
          <a:xfrm>
            <a:off x="155850" y="1100446"/>
            <a:ext cx="8832300" cy="3554819"/>
          </a:xfrm>
          <a:prstGeom prst="rect">
            <a:avLst/>
          </a:prstGeom>
          <a:noFill/>
        </p:spPr>
        <p:txBody>
          <a:bodyPr wrap="square">
            <a:spAutoFit/>
          </a:bodyPr>
          <a:lstStyle/>
          <a:p>
            <a:pPr marL="457200" lvl="0" indent="0" algn="ctr" rtl="0">
              <a:spcBef>
                <a:spcPts val="1000"/>
              </a:spcBef>
              <a:spcAft>
                <a:spcPts val="0"/>
              </a:spcAft>
              <a:buNone/>
            </a:pPr>
            <a:r>
              <a:rPr lang="en-US" sz="2000" b="1" dirty="0"/>
              <a:t>NFT MINTING DAPP</a:t>
            </a:r>
          </a:p>
          <a:p>
            <a:pPr marL="457200" lvl="0" indent="-406400" algn="just" rtl="0">
              <a:spcBef>
                <a:spcPts val="1000"/>
              </a:spcBef>
              <a:spcAft>
                <a:spcPts val="0"/>
              </a:spcAft>
              <a:buSzPts val="2800"/>
              <a:buChar char="❖"/>
            </a:pPr>
            <a:r>
              <a:rPr lang="en-US" sz="2000" dirty="0"/>
              <a:t>An NFT minting </a:t>
            </a:r>
            <a:r>
              <a:rPr lang="en-US" sz="2000" dirty="0" err="1"/>
              <a:t>dapp</a:t>
            </a:r>
            <a:r>
              <a:rPr lang="en-US" sz="2000" dirty="0"/>
              <a:t>(decentralized application) is a web application built on blockchain technology that allows users to transform digital assets into NFTs. </a:t>
            </a:r>
          </a:p>
          <a:p>
            <a:pPr marL="457200" lvl="0" indent="-406400" algn="just" rtl="0">
              <a:spcBef>
                <a:spcPts val="1000"/>
              </a:spcBef>
              <a:spcAft>
                <a:spcPts val="0"/>
              </a:spcAft>
              <a:buSzPts val="2800"/>
              <a:buChar char="❖"/>
            </a:pPr>
            <a:r>
              <a:rPr lang="en-US" sz="2000" dirty="0"/>
              <a:t>NFTs (Non-Fungible Tokens): These are unique digital certificates stored on a blockchain, verifying ownership of digital assets like artwork, music, image, or even virtual items in games. </a:t>
            </a:r>
          </a:p>
          <a:p>
            <a:pPr marL="457200" lvl="0" indent="-406400" algn="just" rtl="0">
              <a:spcBef>
                <a:spcPts val="1000"/>
              </a:spcBef>
              <a:spcAft>
                <a:spcPts val="0"/>
              </a:spcAft>
              <a:buSzPts val="2800"/>
              <a:buChar char="❖"/>
            </a:pPr>
            <a:r>
              <a:rPr lang="en-US" sz="2000" dirty="0" err="1"/>
              <a:t>DApps</a:t>
            </a:r>
            <a:r>
              <a:rPr lang="en-US" sz="2000" dirty="0"/>
              <a:t> (Decentralized Applications): These are applications that run on a decentralized network (blockchain) instead of a single server. This eliminates central control and promotes transparency.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solidFill>
                  <a:srgbClr val="002060"/>
                </a:solidFill>
              </a:rPr>
              <a:t>Project overview – Introduction</a:t>
            </a:r>
            <a:br>
              <a:rPr lang="en-IN" sz="2400" dirty="0">
                <a:solidFill>
                  <a:srgbClr val="002060"/>
                </a:solidFill>
              </a:rPr>
            </a:br>
            <a:br>
              <a:rPr lang="en-IN" sz="2400" dirty="0">
                <a:solidFill>
                  <a:srgbClr val="002060"/>
                </a:solidFill>
              </a:rPr>
            </a:br>
            <a:endParaRPr lang="en-IN" sz="2400" dirty="0">
              <a:solidFill>
                <a:srgbClr val="002060"/>
              </a:solidFill>
            </a:endParaRPr>
          </a:p>
        </p:txBody>
      </p:sp>
      <p:sp>
        <p:nvSpPr>
          <p:cNvPr id="8" name="TextBox 7"/>
          <p:cNvSpPr txBox="1"/>
          <p:nvPr/>
        </p:nvSpPr>
        <p:spPr>
          <a:xfrm>
            <a:off x="311700" y="1348253"/>
            <a:ext cx="8653880" cy="523220"/>
          </a:xfrm>
          <a:prstGeom prst="rect">
            <a:avLst/>
          </a:prstGeom>
          <a:noFill/>
        </p:spPr>
        <p:txBody>
          <a:bodyPr wrap="square">
            <a:spAutoFit/>
          </a:bodyPr>
          <a:lstStyle/>
          <a:p>
            <a:pPr marL="457200" lvl="0" indent="-406400" algn="just" rtl="0">
              <a:spcBef>
                <a:spcPts val="1000"/>
              </a:spcBef>
              <a:spcAft>
                <a:spcPts val="0"/>
              </a:spcAft>
              <a:buSzPts val="2800"/>
              <a:buFont typeface="Arial" panose="020B0604020202020204" pitchFamily="34" charset="0"/>
              <a:buChar char="•"/>
            </a:pPr>
            <a:r>
              <a:rPr lang="en-US" sz="1400" dirty="0"/>
              <a:t>NFT stand for non-fungible token, which means it can neither be replace nor interchanged because it has unique properties.</a:t>
            </a:r>
          </a:p>
        </p:txBody>
      </p:sp>
      <p:sp>
        <p:nvSpPr>
          <p:cNvPr id="10" name="TextBox 9"/>
          <p:cNvSpPr txBox="1"/>
          <p:nvPr/>
        </p:nvSpPr>
        <p:spPr>
          <a:xfrm>
            <a:off x="311700" y="2321894"/>
            <a:ext cx="5747724" cy="2652008"/>
          </a:xfrm>
          <a:prstGeom prst="rect">
            <a:avLst/>
          </a:prstGeom>
          <a:noFill/>
        </p:spPr>
        <p:txBody>
          <a:bodyPr wrap="square">
            <a:spAutoFit/>
          </a:bodyPr>
          <a:lstStyle/>
          <a:p>
            <a:pPr marL="457200" lvl="0" indent="-406400" algn="l" rtl="0">
              <a:spcBef>
                <a:spcPts val="1000"/>
              </a:spcBef>
              <a:spcAft>
                <a:spcPts val="0"/>
              </a:spcAft>
              <a:buSzPts val="2800"/>
              <a:buChar char="❖"/>
            </a:pPr>
            <a:r>
              <a:rPr lang="en-US" sz="1600" b="1" dirty="0"/>
              <a:t>TECHNOLOGIES NEEDED :</a:t>
            </a:r>
          </a:p>
          <a:p>
            <a:pPr marL="50800" lvl="0" algn="l" rtl="0">
              <a:spcBef>
                <a:spcPts val="1000"/>
              </a:spcBef>
              <a:spcAft>
                <a:spcPts val="0"/>
              </a:spcAft>
              <a:buSzPts val="2800"/>
            </a:pPr>
            <a:endParaRPr lang="en-US" sz="1600" b="1" dirty="0"/>
          </a:p>
          <a:p>
            <a:pPr marL="914400" lvl="0" indent="-381000" algn="l" rtl="0">
              <a:spcBef>
                <a:spcPts val="0"/>
              </a:spcBef>
              <a:spcAft>
                <a:spcPts val="0"/>
              </a:spcAft>
              <a:buSzPts val="2400"/>
              <a:buChar char="❏"/>
            </a:pPr>
            <a:r>
              <a:rPr lang="en-US" b="1" dirty="0"/>
              <a:t>FRONTEND</a:t>
            </a:r>
          </a:p>
          <a:p>
            <a:pPr marL="533400" lvl="0" algn="l" rtl="0">
              <a:spcBef>
                <a:spcPts val="0"/>
              </a:spcBef>
              <a:spcAft>
                <a:spcPts val="0"/>
              </a:spcAft>
              <a:buSzPts val="2400"/>
            </a:pPr>
            <a:r>
              <a:rPr lang="en-US" b="1" dirty="0"/>
              <a:t>		</a:t>
            </a:r>
          </a:p>
          <a:p>
            <a:pPr marL="1371600" lvl="0" indent="-381000" algn="l" rtl="0">
              <a:spcBef>
                <a:spcPts val="0"/>
              </a:spcBef>
              <a:spcAft>
                <a:spcPts val="0"/>
              </a:spcAft>
              <a:buSzPts val="2400"/>
              <a:buChar char="★"/>
            </a:pPr>
            <a:r>
              <a:rPr lang="en-US" dirty="0"/>
              <a:t>ReactJS					</a:t>
            </a:r>
          </a:p>
          <a:p>
            <a:pPr marL="914400" lvl="0" indent="-381000" algn="l" rtl="0">
              <a:spcBef>
                <a:spcPts val="0"/>
              </a:spcBef>
              <a:spcAft>
                <a:spcPts val="0"/>
              </a:spcAft>
              <a:buSzPts val="2400"/>
              <a:buChar char="❏"/>
            </a:pPr>
            <a:r>
              <a:rPr lang="en-US" b="1" dirty="0"/>
              <a:t>BACKEND</a:t>
            </a:r>
          </a:p>
          <a:p>
            <a:pPr marL="533400" lvl="0" algn="l" rtl="0">
              <a:spcBef>
                <a:spcPts val="0"/>
              </a:spcBef>
              <a:spcAft>
                <a:spcPts val="0"/>
              </a:spcAft>
              <a:buSzPts val="2400"/>
            </a:pPr>
            <a:endParaRPr lang="en-US" b="1" dirty="0"/>
          </a:p>
          <a:p>
            <a:pPr marL="1371600" lvl="0" indent="-381000" algn="l" rtl="0">
              <a:spcBef>
                <a:spcPts val="0"/>
              </a:spcBef>
              <a:spcAft>
                <a:spcPts val="0"/>
              </a:spcAft>
              <a:buSzPts val="2400"/>
              <a:buChar char="★"/>
            </a:pPr>
            <a:r>
              <a:rPr lang="en-US" dirty="0"/>
              <a:t>Ethereum Blockchain</a:t>
            </a:r>
          </a:p>
          <a:p>
            <a:pPr marL="1371600" lvl="0" indent="-381000" algn="l" rtl="0">
              <a:spcBef>
                <a:spcPts val="0"/>
              </a:spcBef>
              <a:spcAft>
                <a:spcPts val="0"/>
              </a:spcAft>
              <a:buSzPts val="2400"/>
              <a:buChar char="★"/>
            </a:pPr>
            <a:r>
              <a:rPr lang="en-US" dirty="0"/>
              <a:t>Hardhat</a:t>
            </a:r>
          </a:p>
          <a:p>
            <a:pPr marL="1371600" lvl="0" indent="-381000" algn="l" rtl="0">
              <a:spcBef>
                <a:spcPts val="0"/>
              </a:spcBef>
              <a:spcAft>
                <a:spcPts val="0"/>
              </a:spcAft>
              <a:buSzPts val="2400"/>
              <a:buChar char="★"/>
            </a:pPr>
            <a:r>
              <a:rPr lang="en-US" dirty="0"/>
              <a:t>Solidity</a:t>
            </a:r>
          </a:p>
        </p:txBody>
      </p:sp>
      <p:sp>
        <p:nvSpPr>
          <p:cNvPr id="12" name="TextBox 11"/>
          <p:cNvSpPr txBox="1"/>
          <p:nvPr/>
        </p:nvSpPr>
        <p:spPr>
          <a:xfrm>
            <a:off x="5203903" y="2934413"/>
            <a:ext cx="3293326" cy="1771767"/>
          </a:xfrm>
          <a:prstGeom prst="rect">
            <a:avLst/>
          </a:prstGeom>
          <a:noFill/>
        </p:spPr>
        <p:txBody>
          <a:bodyPr wrap="square">
            <a:spAutoFit/>
          </a:bodyPr>
          <a:lstStyle/>
          <a:p>
            <a:pPr marL="914400" lvl="0" indent="-381000" algn="l" rtl="0">
              <a:lnSpc>
                <a:spcPct val="90000"/>
              </a:lnSpc>
              <a:spcBef>
                <a:spcPts val="1000"/>
              </a:spcBef>
              <a:spcAft>
                <a:spcPts val="0"/>
              </a:spcAft>
              <a:buClr>
                <a:schemeClr val="dk1"/>
              </a:buClr>
              <a:buSzPts val="2400"/>
              <a:buChar char="❏"/>
            </a:pPr>
            <a:r>
              <a:rPr lang="fr-FR" sz="1400" b="1" dirty="0">
                <a:solidFill>
                  <a:schemeClr val="dk1"/>
                </a:solidFill>
                <a:latin typeface="Calibri" panose="020F0502020204030204"/>
                <a:ea typeface="Calibri" panose="020F0502020204030204"/>
                <a:cs typeface="Calibri" panose="020F0502020204030204"/>
                <a:sym typeface="Calibri" panose="020F0502020204030204"/>
              </a:rPr>
              <a:t>STORAGE</a:t>
            </a:r>
          </a:p>
          <a:p>
            <a:pPr marL="533400" lvl="0" algn="l" rtl="0">
              <a:lnSpc>
                <a:spcPct val="90000"/>
              </a:lnSpc>
              <a:spcBef>
                <a:spcPts val="1000"/>
              </a:spcBef>
              <a:spcAft>
                <a:spcPts val="0"/>
              </a:spcAft>
              <a:buClr>
                <a:schemeClr val="dk1"/>
              </a:buClr>
              <a:buSzPts val="2400"/>
            </a:pPr>
            <a:endParaRPr lang="fr-FR" sz="1400" b="1" dirty="0">
              <a:solidFill>
                <a:schemeClr val="dk1"/>
              </a:solidFill>
              <a:latin typeface="Calibri" panose="020F0502020204030204"/>
              <a:ea typeface="Calibri" panose="020F0502020204030204"/>
              <a:cs typeface="Calibri" panose="020F0502020204030204"/>
              <a:sym typeface="Calibri" panose="020F0502020204030204"/>
            </a:endParaRPr>
          </a:p>
          <a:p>
            <a:pPr marL="1371600" lvl="0" indent="-381000" algn="l" rtl="0">
              <a:lnSpc>
                <a:spcPct val="90000"/>
              </a:lnSpc>
              <a:spcBef>
                <a:spcPts val="0"/>
              </a:spcBef>
              <a:spcAft>
                <a:spcPts val="0"/>
              </a:spcAft>
              <a:buClr>
                <a:schemeClr val="dk1"/>
              </a:buClr>
              <a:buSzPts val="2400"/>
              <a:buFont typeface="Calibri" panose="020F0502020204030204"/>
              <a:buChar char="★"/>
            </a:pPr>
            <a:r>
              <a:rPr lang="fr-FR" sz="1400" dirty="0" err="1">
                <a:solidFill>
                  <a:schemeClr val="dk1"/>
                </a:solidFill>
                <a:latin typeface="Calibri" panose="020F0502020204030204"/>
                <a:ea typeface="Calibri" panose="020F0502020204030204"/>
                <a:cs typeface="Calibri" panose="020F0502020204030204"/>
                <a:sym typeface="Calibri" panose="020F0502020204030204"/>
              </a:rPr>
              <a:t>Pinata</a:t>
            </a:r>
            <a:r>
              <a:rPr lang="fr-FR" sz="1400" dirty="0">
                <a:solidFill>
                  <a:schemeClr val="dk1"/>
                </a:solidFill>
                <a:latin typeface="Calibri" panose="020F0502020204030204"/>
                <a:ea typeface="Calibri" panose="020F0502020204030204"/>
                <a:cs typeface="Calibri" panose="020F0502020204030204"/>
                <a:sym typeface="Calibri" panose="020F0502020204030204"/>
              </a:rPr>
              <a:t>, IPFS</a:t>
            </a:r>
          </a:p>
          <a:p>
            <a:pPr marL="990600" lvl="0" algn="l" rtl="0">
              <a:lnSpc>
                <a:spcPct val="90000"/>
              </a:lnSpc>
              <a:spcBef>
                <a:spcPts val="0"/>
              </a:spcBef>
              <a:spcAft>
                <a:spcPts val="0"/>
              </a:spcAft>
              <a:buClr>
                <a:schemeClr val="dk1"/>
              </a:buClr>
              <a:buSzPts val="2400"/>
            </a:pPr>
            <a:endParaRPr lang="fr-FR" sz="1400" dirty="0">
              <a:solidFill>
                <a:schemeClr val="dk1"/>
              </a:solidFill>
              <a:latin typeface="Calibri" panose="020F0502020204030204"/>
              <a:ea typeface="Calibri" panose="020F0502020204030204"/>
              <a:cs typeface="Calibri" panose="020F0502020204030204"/>
              <a:sym typeface="Calibri" panose="020F0502020204030204"/>
            </a:endParaRPr>
          </a:p>
          <a:p>
            <a:pPr marL="914400" lvl="0" indent="-381000" algn="l" rtl="0">
              <a:lnSpc>
                <a:spcPct val="90000"/>
              </a:lnSpc>
              <a:spcBef>
                <a:spcPts val="0"/>
              </a:spcBef>
              <a:spcAft>
                <a:spcPts val="0"/>
              </a:spcAft>
              <a:buClr>
                <a:schemeClr val="dk1"/>
              </a:buClr>
              <a:buSzPts val="2400"/>
              <a:buFont typeface="Calibri" panose="020F0502020204030204"/>
              <a:buChar char="❏"/>
            </a:pPr>
            <a:r>
              <a:rPr lang="fr-FR" sz="1400" b="1" dirty="0">
                <a:solidFill>
                  <a:schemeClr val="dk1"/>
                </a:solidFill>
                <a:latin typeface="Calibri" panose="020F0502020204030204"/>
                <a:ea typeface="Calibri" panose="020F0502020204030204"/>
                <a:cs typeface="Calibri" panose="020F0502020204030204"/>
                <a:sym typeface="Calibri" panose="020F0502020204030204"/>
              </a:rPr>
              <a:t>DEPLOYMENT</a:t>
            </a:r>
          </a:p>
          <a:p>
            <a:pPr marL="533400" lvl="0" algn="l" rtl="0">
              <a:lnSpc>
                <a:spcPct val="90000"/>
              </a:lnSpc>
              <a:spcBef>
                <a:spcPts val="0"/>
              </a:spcBef>
              <a:spcAft>
                <a:spcPts val="0"/>
              </a:spcAft>
              <a:buClr>
                <a:schemeClr val="dk1"/>
              </a:buClr>
              <a:buSzPts val="2400"/>
            </a:pPr>
            <a:endParaRPr lang="fr-FR" sz="1400" b="1" dirty="0">
              <a:solidFill>
                <a:schemeClr val="dk1"/>
              </a:solidFill>
              <a:latin typeface="Calibri" panose="020F0502020204030204"/>
              <a:ea typeface="Calibri" panose="020F0502020204030204"/>
              <a:cs typeface="Calibri" panose="020F0502020204030204"/>
              <a:sym typeface="Calibri" panose="020F0502020204030204"/>
            </a:endParaRPr>
          </a:p>
          <a:p>
            <a:pPr marL="1371600" lvl="0" indent="-381000" algn="l" rtl="0">
              <a:lnSpc>
                <a:spcPct val="90000"/>
              </a:lnSpc>
              <a:spcBef>
                <a:spcPts val="0"/>
              </a:spcBef>
              <a:spcAft>
                <a:spcPts val="0"/>
              </a:spcAft>
              <a:buClr>
                <a:schemeClr val="dk1"/>
              </a:buClr>
              <a:buSzPts val="2400"/>
              <a:buFont typeface="Calibri" panose="020F0502020204030204"/>
              <a:buChar char="★"/>
            </a:pPr>
            <a:r>
              <a:rPr lang="fr-FR" sz="1400" dirty="0">
                <a:solidFill>
                  <a:schemeClr val="dk1"/>
                </a:solidFill>
                <a:latin typeface="Calibri" panose="020F0502020204030204"/>
                <a:ea typeface="Calibri" panose="020F0502020204030204"/>
                <a:cs typeface="Calibri" panose="020F0502020204030204"/>
                <a:sym typeface="Calibri" panose="020F0502020204030204"/>
              </a:rPr>
              <a:t>Remix IDE</a:t>
            </a:r>
          </a:p>
          <a:p>
            <a:pPr marL="1371600" lvl="0" indent="-381000" algn="l" rtl="0">
              <a:lnSpc>
                <a:spcPct val="90000"/>
              </a:lnSpc>
              <a:spcBef>
                <a:spcPts val="0"/>
              </a:spcBef>
              <a:spcAft>
                <a:spcPts val="0"/>
              </a:spcAft>
              <a:buClr>
                <a:schemeClr val="dk1"/>
              </a:buClr>
              <a:buSzPts val="2400"/>
              <a:buFont typeface="Calibri" panose="020F0502020204030204"/>
              <a:buChar char="★"/>
            </a:pPr>
            <a:r>
              <a:rPr lang="fr-FR" sz="1400" dirty="0" err="1">
                <a:solidFill>
                  <a:schemeClr val="dk1"/>
                </a:solidFill>
                <a:latin typeface="Calibri" panose="020F0502020204030204"/>
                <a:ea typeface="Calibri" panose="020F0502020204030204"/>
                <a:cs typeface="Calibri" panose="020F0502020204030204"/>
                <a:sym typeface="Calibri" panose="020F0502020204030204"/>
              </a:rPr>
              <a:t>Vercel</a:t>
            </a:r>
            <a:endParaRPr lang="fr-FR" sz="1400"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a:solidFill>
                  <a:srgbClr val="002060"/>
                </a:solidFill>
              </a:rPr>
              <a:t>End User</a:t>
            </a:r>
          </a:p>
        </p:txBody>
      </p:sp>
      <p:sp>
        <p:nvSpPr>
          <p:cNvPr id="3" name="TextBox 2"/>
          <p:cNvSpPr txBox="1"/>
          <p:nvPr/>
        </p:nvSpPr>
        <p:spPr>
          <a:xfrm>
            <a:off x="446049" y="1315844"/>
            <a:ext cx="8199863" cy="3076575"/>
          </a:xfrm>
          <a:prstGeom prst="rect">
            <a:avLst/>
          </a:prstGeom>
          <a:noFill/>
        </p:spPr>
        <p:txBody>
          <a:bodyPr wrap="square">
            <a:spAutoFit/>
          </a:bodyPr>
          <a:lstStyle/>
          <a:p>
            <a:pPr marL="0" indent="0">
              <a:buNone/>
            </a:pPr>
            <a:r>
              <a:rPr lang="en-IN" sz="1600" b="1" dirty="0"/>
              <a:t>Creators</a:t>
            </a:r>
            <a:r>
              <a:rPr lang="en-IN" b="1" dirty="0"/>
              <a:t>:</a:t>
            </a:r>
          </a:p>
          <a:p>
            <a:pPr marL="342900" indent="-342900">
              <a:buAutoNum type="arabicPeriod"/>
            </a:pPr>
            <a:endParaRPr lang="en-IN" b="1" dirty="0"/>
          </a:p>
          <a:p>
            <a:pPr marL="0" lvl="3" indent="0">
              <a:buFont typeface="Wingdings" panose="05000000000000000000" pitchFamily="2" charset="2"/>
              <a:buNone/>
            </a:pPr>
            <a:endParaRPr lang="en-IN" dirty="0"/>
          </a:p>
          <a:p>
            <a:pPr marL="0" lvl="3" indent="0" algn="just">
              <a:buFont typeface="Wingdings" panose="05000000000000000000" pitchFamily="2" charset="2"/>
              <a:buNone/>
            </a:pPr>
            <a:r>
              <a:rPr lang="en-IN" sz="1800" dirty="0"/>
              <a:t>These are the artists, musicians, or anyone with a digital creation they want to convert into a NFT. They use the </a:t>
            </a:r>
            <a:r>
              <a:rPr lang="en-IN" sz="1800" dirty="0" err="1"/>
              <a:t>dApp's</a:t>
            </a:r>
            <a:r>
              <a:rPr lang="en-IN" sz="1800" dirty="0"/>
              <a:t> features to: Upload their digital assets (images) Add details and descriptions for their NFTs Initiate the minting process, connecting their crypto wallet to pa</a:t>
            </a:r>
            <a:r>
              <a:rPr lang="en-US" altLang="en-IN" sz="1800" dirty="0"/>
              <a:t>y</a:t>
            </a:r>
            <a:r>
              <a:rPr lang="en-IN" sz="1800" dirty="0"/>
              <a:t> any fees involved Ultimately, they gain ownership and control over their minted NFTs</a:t>
            </a:r>
            <a:r>
              <a:rPr lang="en-US" altLang="en-IN" sz="1800" dirty="0"/>
              <a:t> </a:t>
            </a:r>
            <a:r>
              <a:rPr lang="en-IN" sz="1800" dirty="0"/>
              <a:t> allowing them to sell, trade, or hold onto them.</a:t>
            </a:r>
          </a:p>
          <a:p>
            <a:pPr marL="342900" indent="-342900">
              <a:buAutoNum type="arabicPeriod"/>
            </a:pPr>
            <a:endParaRPr lang="en-IN" dirty="0"/>
          </a:p>
          <a:p>
            <a:pPr marL="342900" indent="-342900">
              <a:buAutoNum type="arabicPeriod"/>
            </a:pPr>
            <a:endParaRPr lang="en-IN" b="1" dirty="0"/>
          </a:p>
          <a:p>
            <a:pPr marL="0" indent="0">
              <a:buNone/>
            </a:pP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solidFill>
                  <a:srgbClr val="002060"/>
                </a:solidFill>
              </a:rPr>
              <a:t>Wow Factor in Solution</a:t>
            </a:r>
          </a:p>
        </p:txBody>
      </p:sp>
      <p:sp>
        <p:nvSpPr>
          <p:cNvPr id="3" name="TextBox 2"/>
          <p:cNvSpPr txBox="1"/>
          <p:nvPr/>
        </p:nvSpPr>
        <p:spPr>
          <a:xfrm>
            <a:off x="311700" y="1402199"/>
            <a:ext cx="8587506" cy="1815882"/>
          </a:xfrm>
          <a:prstGeom prst="rect">
            <a:avLst/>
          </a:prstGeom>
          <a:noFill/>
        </p:spPr>
        <p:txBody>
          <a:bodyPr wrap="square">
            <a:spAutoFit/>
          </a:bodyPr>
          <a:lstStyle/>
          <a:p>
            <a:pPr marL="400050" indent="-400050">
              <a:buFont typeface="+mj-lt"/>
              <a:buAutoNum type="romanUcPeriod"/>
            </a:pPr>
            <a:r>
              <a:rPr lang="en-IN" sz="1800" b="1" dirty="0"/>
              <a:t>Democratizing Digital Art Ownership: </a:t>
            </a:r>
          </a:p>
          <a:p>
            <a:endParaRPr lang="en-IN" dirty="0"/>
          </a:p>
          <a:p>
            <a:pPr marL="285750" indent="-285750" algn="just">
              <a:buFont typeface="Wingdings" panose="05000000000000000000" pitchFamily="2" charset="2"/>
              <a:buChar char="Ø"/>
            </a:pPr>
            <a:r>
              <a:rPr lang="en-IN" dirty="0"/>
              <a:t>        </a:t>
            </a:r>
            <a:r>
              <a:rPr lang="en-IN" sz="1600" dirty="0"/>
              <a:t>Highlight the challenge of owning digital art before NFTs. Anyone could copy a digital  </a:t>
            </a:r>
          </a:p>
          <a:p>
            <a:pPr algn="just"/>
            <a:r>
              <a:rPr lang="en-IN" sz="1600" dirty="0"/>
              <a:t>            file.</a:t>
            </a:r>
          </a:p>
          <a:p>
            <a:pPr marL="285750" indent="-285750" algn="just">
              <a:buFont typeface="Wingdings" panose="05000000000000000000" pitchFamily="2" charset="2"/>
              <a:buChar char="Ø"/>
            </a:pPr>
            <a:r>
              <a:rPr lang="en-IN" sz="1600" dirty="0"/>
              <a:t>       Explain how your marketplace empowers artists by creating verifiable ownership </a:t>
            </a:r>
          </a:p>
          <a:p>
            <a:pPr algn="just"/>
            <a:r>
              <a:rPr lang="en-IN" sz="1600" dirty="0"/>
              <a:t>            through NFTs.</a:t>
            </a:r>
          </a:p>
          <a:p>
            <a:r>
              <a:rPr lang="en-IN" sz="1600" dirty="0"/>
              <a:t>        </a:t>
            </a:r>
          </a:p>
        </p:txBody>
      </p:sp>
      <p:sp>
        <p:nvSpPr>
          <p:cNvPr id="8" name="TextBox 7"/>
          <p:cNvSpPr txBox="1"/>
          <p:nvPr/>
        </p:nvSpPr>
        <p:spPr>
          <a:xfrm>
            <a:off x="311700" y="3189249"/>
            <a:ext cx="8884339" cy="1168400"/>
          </a:xfrm>
          <a:prstGeom prst="rect">
            <a:avLst/>
          </a:prstGeom>
          <a:noFill/>
        </p:spPr>
        <p:txBody>
          <a:bodyPr wrap="square">
            <a:spAutoFit/>
          </a:bodyPr>
          <a:lstStyle/>
          <a:p>
            <a:pPr marL="0" indent="0">
              <a:buNone/>
            </a:pPr>
            <a:r>
              <a:rPr lang="en-US" altLang="en-IN" sz="1800" dirty="0"/>
              <a:t>2. </a:t>
            </a:r>
            <a:r>
              <a:rPr lang="en-US" altLang="en-IN" sz="1800" b="1" dirty="0"/>
              <a:t> </a:t>
            </a:r>
            <a:r>
              <a:rPr lang="en-IN" sz="1800" b="1" dirty="0"/>
              <a:t>Community Building Features:</a:t>
            </a:r>
          </a:p>
          <a:p>
            <a:pPr marL="0" indent="0">
              <a:buFont typeface="Wingdings" panose="05000000000000000000" charset="0"/>
              <a:buNone/>
            </a:pPr>
            <a:endParaRPr lang="en-IN" sz="1800" dirty="0"/>
          </a:p>
          <a:p>
            <a:pPr marL="342900" indent="-342900" algn="just">
              <a:buFont typeface="Wingdings" panose="05000000000000000000" charset="0"/>
              <a:buChar char="Ø"/>
            </a:pPr>
            <a:r>
              <a:rPr lang="en-IN" sz="1800" dirty="0"/>
              <a:t>I</a:t>
            </a:r>
            <a:r>
              <a:rPr lang="en-IN" sz="1600" dirty="0"/>
              <a:t>n addition to providing a vibrant marketplace for digital art, our platform fosters community engagement through various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a:solidFill>
                  <a:srgbClr val="002060"/>
                </a:solidFill>
              </a:rPr>
              <a:t>Modelling</a:t>
            </a:r>
          </a:p>
        </p:txBody>
      </p:sp>
      <p:pic>
        <p:nvPicPr>
          <p:cNvPr id="3" name="Google Shape;80;g25b5ec7cd1b_5_9"/>
          <p:cNvPicPr preferRelativeResize="0"/>
          <p:nvPr/>
        </p:nvPicPr>
        <p:blipFill rotWithShape="1">
          <a:blip r:embed="rId2"/>
          <a:srcRect t="-3605"/>
          <a:stretch>
            <a:fillRect/>
          </a:stretch>
        </p:blipFill>
        <p:spPr>
          <a:xfrm>
            <a:off x="2618077" y="1271348"/>
            <a:ext cx="3111049" cy="33453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solidFill>
                  <a:srgbClr val="002060"/>
                </a:solidFill>
              </a:rPr>
              <a:t>Result / Outcomes</a:t>
            </a:r>
            <a:endParaRPr lang="en-US" dirty="0"/>
          </a:p>
        </p:txBody>
      </p:sp>
      <p:sp>
        <p:nvSpPr>
          <p:cNvPr id="2" name="TextBox 1"/>
          <p:cNvSpPr txBox="1"/>
          <p:nvPr/>
        </p:nvSpPr>
        <p:spPr>
          <a:xfrm>
            <a:off x="514905" y="1642369"/>
            <a:ext cx="8185212" cy="1014730"/>
          </a:xfrm>
          <a:prstGeom prst="rect">
            <a:avLst/>
          </a:prstGeom>
          <a:noFill/>
        </p:spPr>
        <p:txBody>
          <a:bodyPr wrap="square" rtlCol="0">
            <a:spAutoFit/>
          </a:bodyPr>
          <a:lstStyle/>
          <a:p>
            <a:pPr marL="457200" lvl="0" indent="-406400" algn="just" rtl="0">
              <a:spcBef>
                <a:spcPts val="0"/>
              </a:spcBef>
              <a:spcAft>
                <a:spcPts val="0"/>
              </a:spcAft>
              <a:buSzPts val="2800"/>
              <a:buChar char="❖"/>
            </a:pPr>
            <a:r>
              <a:rPr lang="en-US" sz="2000" dirty="0">
                <a:solidFill>
                  <a:schemeClr val="dk1"/>
                </a:solidFill>
              </a:rPr>
              <a:t>Our project is introducing people with emerging technology like blockchain. It is going to be the future for next generation.</a:t>
            </a:r>
          </a:p>
          <a:p>
            <a:r>
              <a:rPr lang="en-IN" sz="2000" b="0" i="0" dirty="0">
                <a:solidFill>
                  <a:srgbClr val="000000"/>
                </a:solidFill>
                <a:effectLst/>
                <a:latin typeface="Calibri" panose="020F0502020204030204" pitchFamily="34" charset="0"/>
              </a:rPr>
              <a:t>​</a:t>
            </a:r>
            <a:endParaRPr lang="en-IN" sz="2000" b="0" i="0" dirty="0">
              <a:solidFill>
                <a:srgbClr val="000000"/>
              </a:solidFill>
              <a:effectLst/>
              <a:latin typeface="Arial" panose="020B0604020202020204" pitchFamily="34" charset="0"/>
            </a:endParaRPr>
          </a:p>
        </p:txBody>
      </p:sp>
      <p:sp>
        <p:nvSpPr>
          <p:cNvPr id="4" name="TextBox 3"/>
          <p:cNvSpPr txBox="1"/>
          <p:nvPr/>
        </p:nvSpPr>
        <p:spPr>
          <a:xfrm>
            <a:off x="514905" y="2990287"/>
            <a:ext cx="8249954" cy="1015663"/>
          </a:xfrm>
          <a:prstGeom prst="rect">
            <a:avLst/>
          </a:prstGeom>
          <a:noFill/>
        </p:spPr>
        <p:txBody>
          <a:bodyPr wrap="square">
            <a:spAutoFit/>
          </a:bodyPr>
          <a:lstStyle/>
          <a:p>
            <a:pPr marL="457200" lvl="0" indent="-406400" algn="just" rtl="0">
              <a:spcBef>
                <a:spcPts val="0"/>
              </a:spcBef>
              <a:spcAft>
                <a:spcPts val="0"/>
              </a:spcAft>
              <a:buSzPts val="2800"/>
              <a:buChar char="❖"/>
            </a:pPr>
            <a:r>
              <a:rPr lang="en-US" sz="2000" dirty="0"/>
              <a:t>Even though it’s just a basic project but it will give society an idea about emerging techs </a:t>
            </a:r>
            <a:r>
              <a:rPr lang="en-US" sz="2000" dirty="0" err="1"/>
              <a:t>i.e</a:t>
            </a:r>
            <a:r>
              <a:rPr lang="en-US" sz="2000" dirty="0"/>
              <a:t>; blockchain which are going to be a boom in upcoming future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a:solidFill>
                  <a:srgbClr val="002060"/>
                </a:solidFill>
              </a:rPr>
              <a:t>Conclusion</a:t>
            </a:r>
          </a:p>
        </p:txBody>
      </p:sp>
      <p:sp>
        <p:nvSpPr>
          <p:cNvPr id="6" name="TextBox 5"/>
          <p:cNvSpPr txBox="1"/>
          <p:nvPr/>
        </p:nvSpPr>
        <p:spPr>
          <a:xfrm>
            <a:off x="379141" y="1590907"/>
            <a:ext cx="7961971" cy="1630045"/>
          </a:xfrm>
          <a:prstGeom prst="rect">
            <a:avLst/>
          </a:prstGeom>
          <a:noFill/>
        </p:spPr>
        <p:txBody>
          <a:bodyPr wrap="square">
            <a:spAutoFit/>
          </a:bodyPr>
          <a:lstStyle/>
          <a:p>
            <a:pPr marL="342900" indent="-342900" algn="just">
              <a:buFont typeface="Wingdings" panose="05000000000000000000" pitchFamily="2" charset="2"/>
              <a:buChar char="Ø"/>
            </a:pPr>
            <a:r>
              <a:rPr lang="en-IN" sz="2000" dirty="0"/>
              <a:t>We're on the cusp of a revolution in art ownership and creation!  Imagine creating your own unique NFT masterpiece simply by describing it. Blockchain technology will secure your ownership and ensure authenticity, forever etching your vision onto the digital art landscape.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400" dirty="0">
                <a:solidFill>
                  <a:srgbClr val="002060"/>
                </a:solidFill>
              </a:rPr>
              <a:t>Future Perspective</a:t>
            </a:r>
          </a:p>
        </p:txBody>
      </p:sp>
      <p:sp>
        <p:nvSpPr>
          <p:cNvPr id="3" name="TextBox 2"/>
          <p:cNvSpPr txBox="1"/>
          <p:nvPr/>
        </p:nvSpPr>
        <p:spPr>
          <a:xfrm>
            <a:off x="489584" y="1187865"/>
            <a:ext cx="8608741" cy="2953385"/>
          </a:xfrm>
          <a:prstGeom prst="rect">
            <a:avLst/>
          </a:prstGeom>
          <a:noFill/>
        </p:spPr>
        <p:txBody>
          <a:bodyPr wrap="square">
            <a:spAutoFit/>
          </a:bodyPr>
          <a:lstStyle/>
          <a:p>
            <a:pPr marL="381000" lvl="0" indent="-342900" algn="just" rtl="0">
              <a:lnSpc>
                <a:spcPct val="115000"/>
              </a:lnSpc>
              <a:spcBef>
                <a:spcPts val="0"/>
              </a:spcBef>
              <a:spcAft>
                <a:spcPts val="0"/>
              </a:spcAft>
              <a:buSzPts val="3000"/>
              <a:buFont typeface="Wingdings" panose="05000000000000000000" pitchFamily="2" charset="2"/>
              <a:buChar char="Ø"/>
            </a:pPr>
            <a:r>
              <a:rPr lang="en-US" sz="1800" dirty="0"/>
              <a:t>Our marketplace isn't just about static digital art. We envision a future where creativity explodes into a symphony of formats: Beyond the Canvas: Imagine a world where your NFT collection transcends images. We'll seamlessly integrate videos and music NFTs, allowing artists to showcase multimedia masterpieces.</a:t>
            </a:r>
          </a:p>
          <a:p>
            <a:pPr marL="323850" lvl="0" indent="-285750" algn="just" rtl="0">
              <a:lnSpc>
                <a:spcPct val="115000"/>
              </a:lnSpc>
              <a:spcBef>
                <a:spcPts val="0"/>
              </a:spcBef>
              <a:spcAft>
                <a:spcPts val="0"/>
              </a:spcAft>
              <a:buSzPts val="3000"/>
              <a:buFont typeface="Arial" panose="020B0604020202020204" pitchFamily="34" charset="0"/>
              <a:buChar char="•"/>
            </a:pPr>
            <a:endParaRPr lang="en-US" sz="1800" dirty="0"/>
          </a:p>
          <a:p>
            <a:pPr marL="381000" lvl="0" indent="-342900" algn="just" rtl="0">
              <a:lnSpc>
                <a:spcPct val="115000"/>
              </a:lnSpc>
              <a:spcBef>
                <a:spcPts val="0"/>
              </a:spcBef>
              <a:spcAft>
                <a:spcPts val="0"/>
              </a:spcAft>
              <a:buSzPts val="3000"/>
              <a:buFont typeface="Wingdings" panose="05000000000000000000" pitchFamily="2" charset="2"/>
              <a:buChar char="Ø"/>
            </a:pPr>
            <a:r>
              <a:rPr lang="en-US" sz="1800" dirty="0"/>
              <a:t>The Power of Prompt-Based Creation: Get ready to unleash your inner artist! Our revolutionary AI integration will allow you to generate unique NFTs based on simple prompts. Describe your vision, and our AI will craft a one-of-a-kind digital masterpiece.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3166669" y="2193074"/>
            <a:ext cx="2810662" cy="466453"/>
          </a:xfrm>
          <a:prstGeom prst="rect">
            <a:avLst/>
          </a:prstGeom>
        </p:spPr>
        <p:txBody>
          <a:bodyPr rot="0" spcFirstLastPara="0" vertOverflow="overflow" horzOverflow="overflow" vert="horz" lIns="91440" tIns="45720" rIns="91440" bIns="45720" numCol="1" spcCol="0" rtlCol="0" fromWordArt="0" anchor="b" anchorCtr="0" forceAA="0" compatLnSpc="1">
            <a:normAutofit/>
          </a:bodyPr>
          <a:lstStyle/>
          <a:p>
            <a:pPr algn="ctr">
              <a:lnSpc>
                <a:spcPct val="90000"/>
              </a:lnSpc>
              <a:spcBef>
                <a:spcPct val="0"/>
              </a:spcBef>
              <a:spcAft>
                <a:spcPts val="600"/>
              </a:spcAft>
            </a:pPr>
            <a:r>
              <a:rPr lang="en-US" sz="2500" kern="1200">
                <a:solidFill>
                  <a:schemeClr val="tx1"/>
                </a:solidFill>
                <a:latin typeface="Arial" panose="020B0604020202020204" pitchFamily="34" charset="0"/>
                <a:ea typeface="+mj-ea"/>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3706AB80-2608-47D7-8AC8-FA6BC8A9B27C}">
  <ds:schemaRefs/>
</ds:datastoreItem>
</file>

<file path=customXml/itemProps2.xml><?xml version="1.0" encoding="utf-8"?>
<ds:datastoreItem xmlns:ds="http://schemas.openxmlformats.org/officeDocument/2006/customXml" ds:itemID="{7D9E5D5E-A365-4A49-8140-C8CC82A61608}">
  <ds:schemaRefs/>
</ds:datastoreItem>
</file>

<file path=customXml/itemProps3.xml><?xml version="1.0" encoding="utf-8"?>
<ds:datastoreItem xmlns:ds="http://schemas.openxmlformats.org/officeDocument/2006/customXml" ds:itemID="{A6559A34-456E-49A1-8157-9E3D18BFAD36}">
  <ds:schemaRefs/>
</ds:datastoreItem>
</file>

<file path=docProps/app.xml><?xml version="1.0" encoding="utf-8"?>
<Properties xmlns="http://schemas.openxmlformats.org/officeDocument/2006/extended-properties" xmlns:vt="http://schemas.openxmlformats.org/officeDocument/2006/docPropsVTypes">
  <TotalTime>18</TotalTime>
  <Words>963</Words>
  <Application>Microsoft Office PowerPoint</Application>
  <PresentationFormat>On-screen Show (16:9)</PresentationFormat>
  <Paragraphs>91</Paragraphs>
  <Slides>13</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Simple Light</vt:lpstr>
      <vt:lpstr>PowerPoint Presentation</vt:lpstr>
      <vt:lpstr>Project Objectives</vt:lpstr>
      <vt:lpstr>PowerPoint Presentation</vt:lpstr>
      <vt:lpstr>PowerPoint Presentation</vt:lpstr>
      <vt:lpstr>Project Overview - Introduction</vt:lpstr>
      <vt:lpstr>Project overview – Introduction  </vt:lpstr>
      <vt:lpstr>End User</vt:lpstr>
      <vt:lpstr>Wow Factor in Solution</vt:lpstr>
      <vt:lpstr>Modelling</vt:lpstr>
      <vt:lpstr>Result / Outcomes</vt:lpstr>
      <vt:lpstr>Conclusion</vt:lpstr>
      <vt:lpstr>Future Perspective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Divyanshu Mishra</cp:lastModifiedBy>
  <cp:revision>17</cp:revision>
  <dcterms:created xsi:type="dcterms:W3CDTF">2024-04-19T04:27:58Z</dcterms:created>
  <dcterms:modified xsi:type="dcterms:W3CDTF">2024-11-29T06:54:23Z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5B8D290E07564413AB5603FDAE80263A_12</vt:lpwstr>
  </property>
  <property fmtid="{D5CDD505-2E9C-101B-9397-08002B2CF9AE}" pid="4" name="KSOProductBuildVer">
    <vt:lpwstr>1033-12.2.0.16731</vt:lpwstr>
  </property>
</Properties>
</file>